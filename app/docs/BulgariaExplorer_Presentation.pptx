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97"/>
    <p:restoredTop sz="94682"/>
  </p:normalViewPr>
  <p:slideViewPr>
    <p:cSldViewPr snapToGrid="0" snapToObjects="1">
      <p:cViewPr varScale="1">
        <p:scale>
          <a:sx n="93" d="100"/>
          <a:sy n="93" d="100"/>
        </p:scale>
        <p:origin x="248" y="7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2E7D3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5D6A7"/>
                </a:solidFill>
                <a:latin typeface="Calibri"/>
              </a:defRPr>
            </a:pPr>
            <a:r>
              <a:t>КУРСОВ ПРОЕКТ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91440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Calibri"/>
              </a:defRPr>
            </a:pPr>
            <a:r>
              <a:rPr dirty="0"/>
              <a:t>Bulgaria</a:t>
            </a:r>
            <a:r>
              <a:rPr lang="bg-BG" dirty="0"/>
              <a:t> </a:t>
            </a:r>
            <a:r>
              <a:rPr dirty="0"/>
              <a:t>Explorer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70788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8E6C9"/>
                </a:solidFill>
                <a:latin typeface="Calibri"/>
              </a:defRPr>
            </a:pPr>
            <a:r>
              <a:rPr lang="bg-BG" noProof="1"/>
              <a:t>Мобилно приложение </a:t>
            </a:r>
          </a:p>
          <a:p>
            <a:pPr algn="l">
              <a:defRPr sz="2000" b="0">
                <a:solidFill>
                  <a:srgbClr val="C8E6C9"/>
                </a:solidFill>
                <a:latin typeface="Calibri"/>
              </a:defRPr>
            </a:pPr>
            <a:r>
              <a:rPr lang="bg-BG" noProof="1"/>
              <a:t>за популяризиране на българското природно наследство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4572000" cy="36576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12121"/>
                </a:solidFill>
                <a:latin typeface="Calibri"/>
              </a:defRPr>
            </a:pPr>
            <a:r>
              <a:rPr lang="bg-BG" dirty="0"/>
              <a:t>Преслав Станимиров </a:t>
            </a:r>
            <a:r>
              <a:rPr lang="bg-BG" noProof="1"/>
              <a:t>Борисов</a:t>
            </a:r>
            <a:endParaRPr lang="bg-BG" dirty="0"/>
          </a:p>
        </p:txBody>
      </p:sp>
      <p:sp>
        <p:nvSpPr>
          <p:cNvPr id="7" name="TextBox 6"/>
          <p:cNvSpPr txBox="1"/>
          <p:nvPr/>
        </p:nvSpPr>
        <p:spPr>
          <a:xfrm>
            <a:off x="731520" y="4114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16161"/>
                </a:solidFill>
                <a:latin typeface="Calibri"/>
              </a:defRPr>
            </a:pPr>
            <a:r>
              <a:rPr dirty="0"/>
              <a:t>Фак. №: 121223057  |  </a:t>
            </a:r>
            <a:r>
              <a:rPr lang="bg-BG" noProof="1"/>
              <a:t>Група</a:t>
            </a:r>
            <a:r>
              <a:rPr dirty="0"/>
              <a:t>: 42а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572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16161"/>
                </a:solidFill>
                <a:latin typeface="Calibri"/>
              </a:defRPr>
            </a:pPr>
            <a:r>
              <a:t>Програмиране за мобилни устройства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029200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16161"/>
                </a:solidFill>
                <a:latin typeface="Calibri"/>
              </a:defRPr>
            </a:pPr>
            <a:r>
              <a:rPr dirty="0"/>
              <a:t>ТУ – </a:t>
            </a:r>
            <a:r>
              <a:rPr lang="bg-BG" noProof="1"/>
              <a:t>София</a:t>
            </a:r>
            <a:r>
              <a:rPr dirty="0"/>
              <a:t>, </a:t>
            </a:r>
            <a:r>
              <a:rPr lang="bg-BG" noProof="1"/>
              <a:t>Фа</a:t>
            </a:r>
            <a:r>
              <a:rPr lang="bg-BG" dirty="0"/>
              <a:t>: </a:t>
            </a:r>
            <a:r>
              <a:rPr dirty="0"/>
              <a:t>КС</a:t>
            </a:r>
            <a:r>
              <a:rPr lang="bg-BG" dirty="0"/>
              <a:t>И</a:t>
            </a:r>
            <a:r>
              <a:rPr dirty="0"/>
              <a:t>, 2026 </a:t>
            </a:r>
            <a:r>
              <a:rPr lang="bg-BG" noProof="1"/>
              <a:t>г.</a:t>
            </a:r>
            <a:endParaRPr dirty="0"/>
          </a:p>
        </p:txBody>
      </p:sp>
      <p:pic>
        <p:nvPicPr>
          <p:cNvPr id="10" name="Picture 9" descr="img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4071" y="214311"/>
            <a:ext cx="2883049" cy="6429377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1" name="TextBox 10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16161"/>
                </a:solidFill>
                <a:latin typeface="Calibri"/>
              </a:defRPr>
            </a:pPr>
            <a:r>
              <a:t>1/10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rPr lang="bg-BG" noProof="1"/>
              <a:t>Проблем и решение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5303520" cy="4846320"/>
          </a:xfrm>
          <a:prstGeom prst="rect">
            <a:avLst/>
          </a:prstGeom>
          <a:solidFill>
            <a:srgbClr val="F5F5F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4754880" cy="45720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32F2F"/>
                </a:solidFill>
                <a:latin typeface="Calibri"/>
              </a:defRPr>
            </a:pPr>
            <a:r>
              <a:rPr dirty="0"/>
              <a:t>⚠  </a:t>
            </a:r>
            <a:r>
              <a:rPr lang="bg-BG" noProof="1"/>
              <a:t>Проблем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• 3000+ природни забележителности в България</a:t>
            </a:r>
          </a:p>
          <a:p>
            <a:pPr>
              <a:spcAft>
                <a:spcPts val="6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• Повечето непознати за младите хора</a:t>
            </a:r>
          </a:p>
          <a:p>
            <a:pPr>
              <a:spcAft>
                <a:spcPts val="6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• Съществуващите приложения нямат мотивация</a:t>
            </a:r>
          </a:p>
          <a:p>
            <a:pPr>
              <a:spcAft>
                <a:spcPts val="6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  за повторна употреба</a:t>
            </a:r>
          </a:p>
          <a:p>
            <a:pPr>
              <a:spcAft>
                <a:spcPts val="6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• Липсва GPS верификация на посещения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371600"/>
            <a:ext cx="5303520" cy="4846320"/>
          </a:xfrm>
          <a:prstGeom prst="rect">
            <a:avLst/>
          </a:prstGeom>
          <a:solidFill>
            <a:srgbClr val="E8F5E9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0" y="1554480"/>
            <a:ext cx="4754880" cy="45720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7D32"/>
                </a:solidFill>
                <a:latin typeface="Calibri"/>
              </a:defRPr>
            </a:pPr>
            <a:r>
              <a:rPr dirty="0"/>
              <a:t>✓  </a:t>
            </a:r>
            <a:r>
              <a:rPr lang="en-US" noProof="1"/>
              <a:t>BulgariaExplorer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6675120" y="210312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1B5E20"/>
                </a:solidFill>
                <a:latin typeface="Calibri"/>
              </a:defRPr>
            </a:pPr>
            <a:r>
              <a:t>• Gamification: точки, нива, streak</a:t>
            </a:r>
          </a:p>
          <a:p>
            <a:pPr>
              <a:spcAft>
                <a:spcPts val="600"/>
              </a:spcAft>
              <a:defRPr sz="1700">
                <a:solidFill>
                  <a:srgbClr val="1B5E20"/>
                </a:solidFill>
                <a:latin typeface="Calibri"/>
              </a:defRPr>
            </a:pPr>
            <a:r>
              <a:t>• GPS + камера верификация на посещения</a:t>
            </a:r>
          </a:p>
          <a:p>
            <a:pPr>
              <a:spcAft>
                <a:spcPts val="600"/>
              </a:spcAft>
              <a:defRPr sz="1700">
                <a:solidFill>
                  <a:srgbClr val="1B5E20"/>
                </a:solidFill>
                <a:latin typeface="Calibri"/>
              </a:defRPr>
            </a:pPr>
            <a:r>
              <a:t>• Мисии и постижения за мотивация</a:t>
            </a:r>
          </a:p>
          <a:p>
            <a:pPr>
              <a:spcAft>
                <a:spcPts val="600"/>
              </a:spcAft>
              <a:defRPr sz="1700">
                <a:solidFill>
                  <a:srgbClr val="1B5E20"/>
                </a:solidFill>
                <a:latin typeface="Calibri"/>
              </a:defRPr>
            </a:pPr>
            <a:r>
              <a:t>• Класация между потребителите</a:t>
            </a:r>
          </a:p>
          <a:p>
            <a:pPr>
              <a:spcAft>
                <a:spcPts val="600"/>
              </a:spcAft>
              <a:defRPr sz="1700">
                <a:solidFill>
                  <a:srgbClr val="1B5E20"/>
                </a:solidFill>
                <a:latin typeface="Calibri"/>
              </a:defRPr>
            </a:pPr>
            <a:r>
              <a:t>• Material Design 3 + тъмен режим</a:t>
            </a:r>
          </a:p>
          <a:p>
            <a:pPr>
              <a:spcAft>
                <a:spcPts val="600"/>
              </a:spcAft>
              <a:defRPr sz="1700">
                <a:solidFill>
                  <a:srgbClr val="1B5E20"/>
                </a:solidFill>
                <a:latin typeface="Calibri"/>
              </a:defRPr>
            </a:pPr>
            <a:r>
              <a:t>• Админ панел за управление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16161"/>
                </a:solidFill>
                <a:latin typeface="Calibri"/>
              </a:defRPr>
            </a:pPr>
            <a:r>
              <a:t>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rPr lang="bg-BG" noProof="1"/>
              <a:t>Системна архитектура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3200400" cy="4389120"/>
          </a:xfrm>
          <a:prstGeom prst="rect">
            <a:avLst/>
          </a:prstGeom>
          <a:solidFill>
            <a:srgbClr val="E8F5E9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7D32"/>
                </a:solidFill>
                <a:latin typeface="Calibri"/>
              </a:defRPr>
            </a:pPr>
            <a:r>
              <a:t>📱 Android клиент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2834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Kotlin + MVVM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Retrofit 2 (HTTP)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Google Maps SDK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Coil (изображения)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DataStore (JWT)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WorkManager (известия)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Material Design 3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Navigation Component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115 Kotlin файла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320040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16161"/>
                </a:solidFill>
                <a:latin typeface="Calibri"/>
              </a:defRPr>
            </a:pPr>
            <a:r>
              <a:t>◄─── REST API ───►</a:t>
            </a:r>
            <a:br/>
            <a:r>
              <a:t>JSON / HTTP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0" y="1645920"/>
            <a:ext cx="3017520" cy="4389120"/>
          </a:xfrm>
          <a:prstGeom prst="rect">
            <a:avLst/>
          </a:prstGeom>
          <a:solidFill>
            <a:srgbClr val="E3F2FD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852160" y="17373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565C0"/>
                </a:solidFill>
                <a:latin typeface="Calibri"/>
              </a:defRPr>
            </a:pPr>
            <a:r>
              <a:t>🖥  Spring Boot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2286000"/>
            <a:ext cx="2651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Java 21 + Spring Boot 3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Spring Security + JWT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Spring Data JPA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Swagger UI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26 REST ендпойнти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12 таблици в БД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147 unit теста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0" y="2286000"/>
            <a:ext cx="2560320" cy="2743200"/>
          </a:xfrm>
          <a:prstGeom prst="rect">
            <a:avLst/>
          </a:prstGeom>
          <a:solidFill>
            <a:srgbClr val="FFF3E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326880" y="23774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65100"/>
                </a:solidFill>
                <a:latin typeface="Calibri"/>
              </a:defRPr>
            </a:pPr>
            <a:r>
              <a:t>🗄  PostgreSQL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0" y="292608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12 таблици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users, pois, visits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favorites, missions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achievements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notifications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32004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16161"/>
                </a:solidFill>
                <a:latin typeface="Calibri"/>
              </a:defRPr>
            </a:pPr>
            <a:r>
              <a:t>──►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16161"/>
                </a:solidFill>
                <a:latin typeface="Calibri"/>
              </a:defRPr>
            </a:pPr>
            <a:r>
              <a:t>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rPr lang="bg-BG" noProof="1"/>
              <a:t>Основни екрани – Вход, Начало, Разгледай</a:t>
            </a:r>
          </a:p>
        </p:txBody>
      </p:sp>
      <p:pic>
        <p:nvPicPr>
          <p:cNvPr id="4" name="Picture 3" descr="img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2400300" cy="5029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TextBox 4"/>
          <p:cNvSpPr txBox="1"/>
          <p:nvPr/>
        </p:nvSpPr>
        <p:spPr>
          <a:xfrm>
            <a:off x="457200" y="64465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16161"/>
                </a:solidFill>
                <a:latin typeface="Calibri"/>
              </a:defRPr>
            </a:pPr>
            <a:r>
              <a:t>Вход</a:t>
            </a:r>
          </a:p>
        </p:txBody>
      </p:sp>
      <p:pic>
        <p:nvPicPr>
          <p:cNvPr id="6" name="Picture 5" descr="img_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1371600"/>
            <a:ext cx="2255185" cy="5029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TextBox 6"/>
          <p:cNvSpPr txBox="1"/>
          <p:nvPr/>
        </p:nvSpPr>
        <p:spPr>
          <a:xfrm>
            <a:off x="3474720" y="64465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16161"/>
                </a:solidFill>
                <a:latin typeface="Calibri"/>
              </a:defRPr>
            </a:pPr>
            <a:r>
              <a:t>Начален екран</a:t>
            </a:r>
          </a:p>
        </p:txBody>
      </p:sp>
      <p:pic>
        <p:nvPicPr>
          <p:cNvPr id="8" name="Picture 7" descr="img_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1124" y="1371600"/>
            <a:ext cx="2315251" cy="5029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TextBox 8"/>
          <p:cNvSpPr txBox="1"/>
          <p:nvPr/>
        </p:nvSpPr>
        <p:spPr>
          <a:xfrm>
            <a:off x="6492240" y="64465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16161"/>
                </a:solidFill>
                <a:latin typeface="Calibri"/>
              </a:defRPr>
            </a:pPr>
            <a:r>
              <a:t>Списък обекти</a:t>
            </a:r>
          </a:p>
        </p:txBody>
      </p:sp>
      <p:pic>
        <p:nvPicPr>
          <p:cNvPr id="10" name="Picture 9" descr="img_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0" y="1371600"/>
            <a:ext cx="2337015" cy="5029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" name="TextBox 10"/>
          <p:cNvSpPr txBox="1"/>
          <p:nvPr/>
        </p:nvSpPr>
        <p:spPr>
          <a:xfrm>
            <a:off x="9144000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16161"/>
                </a:solidFill>
                <a:latin typeface="Calibri"/>
              </a:defRPr>
            </a:pPr>
            <a:r>
              <a:t>Детайли на обект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16161"/>
                </a:solidFill>
                <a:latin typeface="Calibri"/>
              </a:defRPr>
            </a:pPr>
            <a:r>
              <a:t>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rPr lang="bg-BG" noProof="1"/>
              <a:t>Карта и чекиране на посещение</a:t>
            </a:r>
          </a:p>
        </p:txBody>
      </p:sp>
      <p:pic>
        <p:nvPicPr>
          <p:cNvPr id="4" name="Picture 3" descr="img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2367945" cy="5029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TextBox 4"/>
          <p:cNvSpPr txBox="1"/>
          <p:nvPr/>
        </p:nvSpPr>
        <p:spPr>
          <a:xfrm>
            <a:off x="457200" y="64465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16161"/>
                </a:solidFill>
                <a:latin typeface="Calibri"/>
              </a:defRPr>
            </a:pPr>
            <a:r>
              <a:t>Карта с обекти</a:t>
            </a:r>
          </a:p>
        </p:txBody>
      </p:sp>
      <p:pic>
        <p:nvPicPr>
          <p:cNvPr id="6" name="Picture 5" descr="img_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1371600"/>
            <a:ext cx="2367915" cy="5029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TextBox 6"/>
          <p:cNvSpPr txBox="1"/>
          <p:nvPr/>
        </p:nvSpPr>
        <p:spPr>
          <a:xfrm>
            <a:off x="3657600" y="64465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16161"/>
                </a:solidFill>
                <a:latin typeface="Calibri"/>
              </a:defRPr>
            </a:pPr>
            <a:r>
              <a:t>Заснемане на снимка</a:t>
            </a:r>
          </a:p>
        </p:txBody>
      </p:sp>
      <p:pic>
        <p:nvPicPr>
          <p:cNvPr id="8" name="Picture 7" descr="img_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0410" y="4833804"/>
            <a:ext cx="4143790" cy="86537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TextBox 8"/>
          <p:cNvSpPr txBox="1"/>
          <p:nvPr/>
        </p:nvSpPr>
        <p:spPr>
          <a:xfrm>
            <a:off x="6858000" y="64465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16161"/>
                </a:solidFill>
                <a:latin typeface="Calibri"/>
              </a:defRPr>
            </a:pPr>
            <a:r>
              <a:t>Успешно чекиране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3317" y="1371600"/>
            <a:ext cx="2286000" cy="3001694"/>
          </a:xfrm>
          <a:prstGeom prst="rect">
            <a:avLst/>
          </a:prstGeom>
          <a:solidFill>
            <a:srgbClr val="E8F5E9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7712185" y="146635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E7D32"/>
                </a:solidFill>
                <a:latin typeface="Calibri"/>
              </a:defRPr>
            </a:pPr>
            <a:r>
              <a:rPr lang="bg-BG" noProof="1"/>
              <a:t>Процес</a:t>
            </a:r>
            <a:r>
              <a:rPr dirty="0"/>
              <a:t>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76197" y="1946824"/>
            <a:ext cx="1920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rPr dirty="0"/>
              <a:t>1. GPS </a:t>
            </a:r>
            <a:r>
              <a:rPr lang="bg-BG" noProof="1"/>
              <a:t>проверка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rPr lang="bg-BG" noProof="1"/>
              <a:t>   (макс. 200м)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rPr lang="bg-BG" noProof="1"/>
              <a:t>2. Камера – снимка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rPr lang="bg-BG" noProof="1"/>
              <a:t>3. Upload на сървър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rPr lang="bg-BG" noProof="1"/>
              <a:t>4. Записване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rPr lang="bg-BG" noProof="1"/>
              <a:t>5. Награда: точки!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16161"/>
                </a:solidFill>
                <a:latin typeface="Calibri"/>
              </a:defRPr>
            </a:pPr>
            <a:r>
              <a:t>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rPr lang="bg-BG" noProof="1"/>
              <a:t>Класация, профил и постижения</a:t>
            </a:r>
          </a:p>
        </p:txBody>
      </p:sp>
      <p:pic>
        <p:nvPicPr>
          <p:cNvPr id="4" name="Picture 3" descr="img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2384907" cy="5029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TextBox 4"/>
          <p:cNvSpPr txBox="1"/>
          <p:nvPr/>
        </p:nvSpPr>
        <p:spPr>
          <a:xfrm>
            <a:off x="457200" y="64465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16161"/>
                </a:solidFill>
                <a:latin typeface="Calibri"/>
              </a:defRPr>
            </a:pPr>
            <a:r>
              <a:t>Класация (Top 10)</a:t>
            </a:r>
          </a:p>
        </p:txBody>
      </p:sp>
      <p:pic>
        <p:nvPicPr>
          <p:cNvPr id="6" name="Picture 5" descr="img_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9925" y="1371600"/>
            <a:ext cx="2351222" cy="5029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TextBox 6"/>
          <p:cNvSpPr txBox="1"/>
          <p:nvPr/>
        </p:nvSpPr>
        <p:spPr>
          <a:xfrm>
            <a:off x="3474720" y="64465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16161"/>
                </a:solidFill>
                <a:latin typeface="Calibri"/>
              </a:defRPr>
            </a:pPr>
            <a:r>
              <a:t>Профил</a:t>
            </a:r>
          </a:p>
        </p:txBody>
      </p:sp>
      <p:pic>
        <p:nvPicPr>
          <p:cNvPr id="8" name="Picture 7" descr="img_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4220" y="1371600"/>
            <a:ext cx="3094892" cy="5029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TextBox 8"/>
          <p:cNvSpPr txBox="1"/>
          <p:nvPr/>
        </p:nvSpPr>
        <p:spPr>
          <a:xfrm>
            <a:off x="6492240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16161"/>
                </a:solidFill>
                <a:latin typeface="Calibri"/>
              </a:defRPr>
            </a:pPr>
            <a:r>
              <a:t>Мисии</a:t>
            </a:r>
          </a:p>
        </p:txBody>
      </p:sp>
      <p:pic>
        <p:nvPicPr>
          <p:cNvPr id="10" name="Picture 9" descr="img_1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0" y="1371600"/>
            <a:ext cx="2373726" cy="5029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" name="TextBox 10"/>
          <p:cNvSpPr txBox="1"/>
          <p:nvPr/>
        </p:nvSpPr>
        <p:spPr>
          <a:xfrm>
            <a:off x="9326880" y="64465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16161"/>
                </a:solidFill>
                <a:latin typeface="Calibri"/>
              </a:defRPr>
            </a:pPr>
            <a:r>
              <a:t>Постижения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16161"/>
                </a:solidFill>
                <a:latin typeface="Calibri"/>
              </a:defRPr>
            </a:pPr>
            <a:r>
              <a:t>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rPr lang="bg-BG" noProof="1"/>
              <a:t>Известия, любими и моите посещения</a:t>
            </a:r>
          </a:p>
        </p:txBody>
      </p:sp>
      <p:pic>
        <p:nvPicPr>
          <p:cNvPr id="4" name="Picture 3" descr="im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2387600" cy="5029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TextBox 4"/>
          <p:cNvSpPr txBox="1"/>
          <p:nvPr/>
        </p:nvSpPr>
        <p:spPr>
          <a:xfrm>
            <a:off x="3487519" y="62636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16161"/>
                </a:solidFill>
                <a:latin typeface="Calibri"/>
              </a:defRPr>
            </a:pPr>
            <a:r>
              <a:rPr dirty="0"/>
              <a:t>Push </a:t>
            </a:r>
            <a:r>
              <a:rPr lang="bg-BG" noProof="1"/>
              <a:t>известия</a:t>
            </a:r>
            <a:endParaRPr dirty="0"/>
          </a:p>
        </p:txBody>
      </p:sp>
      <p:pic>
        <p:nvPicPr>
          <p:cNvPr id="6" name="Picture 5" descr="img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9584" y="2926080"/>
            <a:ext cx="3164003" cy="100584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TextBox 6"/>
          <p:cNvSpPr txBox="1"/>
          <p:nvPr/>
        </p:nvSpPr>
        <p:spPr>
          <a:xfrm>
            <a:off x="462280" y="64236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16161"/>
                </a:solidFill>
                <a:latin typeface="Calibri"/>
              </a:defRPr>
            </a:pPr>
            <a:r>
              <a:rPr lang="bg-BG" noProof="1"/>
              <a:t>Списък известия</a:t>
            </a:r>
          </a:p>
        </p:txBody>
      </p:sp>
      <p:pic>
        <p:nvPicPr>
          <p:cNvPr id="8" name="Picture 7" descr="img_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4051" y="1371600"/>
            <a:ext cx="2312748" cy="5029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TextBox 8"/>
          <p:cNvSpPr txBox="1"/>
          <p:nvPr/>
        </p:nvSpPr>
        <p:spPr>
          <a:xfrm>
            <a:off x="6799452" y="644920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16161"/>
                </a:solidFill>
                <a:latin typeface="Calibri"/>
              </a:defRPr>
            </a:pPr>
            <a:r>
              <a:rPr lang="bg-BG" noProof="1"/>
              <a:t>Любими обекти</a:t>
            </a:r>
          </a:p>
        </p:txBody>
      </p:sp>
      <p:pic>
        <p:nvPicPr>
          <p:cNvPr id="10" name="Picture 9" descr="img_1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42652" y="1394460"/>
            <a:ext cx="2331975" cy="5029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" name="TextBox 10"/>
          <p:cNvSpPr txBox="1"/>
          <p:nvPr/>
        </p:nvSpPr>
        <p:spPr>
          <a:xfrm>
            <a:off x="9679790" y="643307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16161"/>
                </a:solidFill>
                <a:latin typeface="Calibri"/>
              </a:defRPr>
            </a:pPr>
            <a:r>
              <a:rPr lang="bg-BG" noProof="1"/>
              <a:t>Тъмен режим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16161"/>
                </a:solidFill>
                <a:latin typeface="Calibri"/>
              </a:defRPr>
            </a:pPr>
            <a:r>
              <a:t>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rPr lang="bg-BG" noProof="1"/>
              <a:t>Административен панел</a:t>
            </a:r>
          </a:p>
        </p:txBody>
      </p:sp>
      <p:pic>
        <p:nvPicPr>
          <p:cNvPr id="4" name="Picture 3" descr="img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2348841" cy="5029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TextBox 4"/>
          <p:cNvSpPr txBox="1"/>
          <p:nvPr/>
        </p:nvSpPr>
        <p:spPr>
          <a:xfrm>
            <a:off x="260020" y="646100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16161"/>
                </a:solidFill>
                <a:latin typeface="Calibri"/>
              </a:defRPr>
            </a:pPr>
            <a:r>
              <a:rPr dirty="0" err="1"/>
              <a:t>Админ</a:t>
            </a:r>
            <a:r>
              <a:rPr dirty="0"/>
              <a:t> dashboard</a:t>
            </a:r>
          </a:p>
        </p:txBody>
      </p:sp>
      <p:pic>
        <p:nvPicPr>
          <p:cNvPr id="6" name="Picture 5" descr="img_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0" y="1371600"/>
            <a:ext cx="2345521" cy="5029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TextBox 6"/>
          <p:cNvSpPr txBox="1"/>
          <p:nvPr/>
        </p:nvSpPr>
        <p:spPr>
          <a:xfrm>
            <a:off x="3093000" y="6479738"/>
            <a:ext cx="27432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16161"/>
                </a:solidFill>
                <a:latin typeface="Calibri"/>
              </a:defRPr>
            </a:pPr>
            <a:r>
              <a:rPr lang="bg-BG" dirty="0"/>
              <a:t>Списък</a:t>
            </a:r>
            <a:r>
              <a:rPr dirty="0"/>
              <a:t> </a:t>
            </a:r>
            <a:r>
              <a:rPr lang="bg-BG" dirty="0"/>
              <a:t>обекти</a:t>
            </a:r>
            <a:endParaRPr dirty="0"/>
          </a:p>
        </p:txBody>
      </p:sp>
      <p:pic>
        <p:nvPicPr>
          <p:cNvPr id="8" name="Picture 7" descr="img_2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1371600"/>
            <a:ext cx="2425682" cy="5029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TextBox 8"/>
          <p:cNvSpPr txBox="1"/>
          <p:nvPr/>
        </p:nvSpPr>
        <p:spPr>
          <a:xfrm>
            <a:off x="5967721" y="6470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16161"/>
                </a:solidFill>
                <a:latin typeface="Calibri"/>
              </a:defRPr>
            </a:pPr>
            <a:r>
              <a:rPr lang="bg-BG" noProof="1"/>
              <a:t>Управление обекти</a:t>
            </a:r>
          </a:p>
        </p:txBody>
      </p:sp>
      <p:pic>
        <p:nvPicPr>
          <p:cNvPr id="10" name="Picture 9" descr="img_2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0" y="1371600"/>
            <a:ext cx="2315251" cy="5029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" name="TextBox 10"/>
          <p:cNvSpPr txBox="1"/>
          <p:nvPr/>
        </p:nvSpPr>
        <p:spPr>
          <a:xfrm>
            <a:off x="8641080" y="6451972"/>
            <a:ext cx="29260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16161"/>
                </a:solidFill>
                <a:latin typeface="Calibri"/>
              </a:defRPr>
            </a:pPr>
            <a:r>
              <a:rPr lang="bg-BG" dirty="0"/>
              <a:t>Редактиране обекти</a:t>
            </a:r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16161"/>
                </a:solidFill>
                <a:latin typeface="Calibri"/>
              </a:defRPr>
            </a:pPr>
            <a:r>
              <a:t>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rPr lang="bg-BG" noProof="1"/>
              <a:t>MVVM архитектура и тестване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3200400" cy="1371600"/>
          </a:xfrm>
          <a:prstGeom prst="rect">
            <a:avLst/>
          </a:prstGeom>
          <a:solidFill>
            <a:srgbClr val="E8F5E9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E7D32"/>
                </a:solidFill>
                <a:latin typeface="Calibri"/>
              </a:defRPr>
            </a:pPr>
            <a:r>
              <a:t>View (Fragment)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12121"/>
                </a:solidFill>
                <a:latin typeface="Calibri"/>
              </a:defRPr>
            </a:pPr>
            <a:r>
              <a:t>UI + ViewBinding</a:t>
            </a:r>
            <a:br/>
            <a:r>
              <a:t>Наблюдава LiveData</a:t>
            </a:r>
            <a:br/>
            <a:r>
              <a:t>Обработва потребителски действия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28346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2E7D32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200400"/>
            <a:ext cx="3200400" cy="1371600"/>
          </a:xfrm>
          <a:prstGeom prst="rect">
            <a:avLst/>
          </a:prstGeom>
          <a:solidFill>
            <a:srgbClr val="E3F2FD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3246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565C0"/>
                </a:solidFill>
                <a:latin typeface="Calibri"/>
              </a:defRPr>
            </a:pPr>
            <a:r>
              <a:t>ViewModel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65760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12121"/>
                </a:solidFill>
                <a:latin typeface="Calibri"/>
              </a:defRPr>
            </a:pPr>
            <a:r>
              <a:t>Sealed class за състояния</a:t>
            </a:r>
            <a:br/>
            <a:r>
              <a:t>LiveData + viewModelScope</a:t>
            </a:r>
            <a:br/>
            <a:r>
              <a:t>Бизнес логика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46634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1565C0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029200"/>
            <a:ext cx="3200400" cy="1371600"/>
          </a:xfrm>
          <a:prstGeom prst="rect">
            <a:avLst/>
          </a:prstGeom>
          <a:solidFill>
            <a:srgbClr val="FFF3E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5074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65100"/>
                </a:solidFill>
                <a:latin typeface="Calibri"/>
              </a:defRPr>
            </a:pPr>
            <a:r>
              <a:t>Repository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48640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12121"/>
                </a:solidFill>
                <a:latin typeface="Calibri"/>
              </a:defRPr>
            </a:pPr>
            <a:r>
              <a:t>Retrofit HTTP клиент</a:t>
            </a:r>
            <a:br/>
            <a:r>
              <a:t>Result&lt;T&gt; обвивка</a:t>
            </a:r>
            <a:br/>
            <a:r>
              <a:t>Обработка на грешки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0" y="1371600"/>
            <a:ext cx="3474720" cy="4114800"/>
          </a:xfrm>
          <a:prstGeom prst="rect">
            <a:avLst/>
          </a:prstGeom>
          <a:solidFill>
            <a:srgbClr val="FAFAF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54880" y="1463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12121"/>
                </a:solidFill>
                <a:latin typeface="Calibri"/>
              </a:defRPr>
            </a:pPr>
            <a:r>
              <a:t>Sealed class pattern: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192024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B5E20"/>
                </a:solidFill>
                <a:latin typeface="Consolas"/>
              </a:defRPr>
            </a:pPr>
            <a:r>
              <a:t>sealed class UserState {</a:t>
            </a:r>
            <a:br/>
            <a:r>
              <a:t>  object Loading : UserState()</a:t>
            </a:r>
            <a:br/>
            <a:r>
              <a:t>  data class Success(</a:t>
            </a:r>
            <a:br/>
            <a:r>
              <a:t>    val user: UserResponse</a:t>
            </a:r>
            <a:br/>
            <a:r>
              <a:t>  ) : UserState()</a:t>
            </a:r>
            <a:br/>
            <a:r>
              <a:t>  data class Error(</a:t>
            </a:r>
            <a:br/>
            <a:r>
              <a:t>    val message: String</a:t>
            </a:r>
            <a:br/>
            <a:r>
              <a:t>  ) : UserState()</a:t>
            </a:r>
            <a:br/>
            <a:r>
              <a:t>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03920" y="1371600"/>
            <a:ext cx="3291840" cy="5029200"/>
          </a:xfrm>
          <a:prstGeom prst="rect">
            <a:avLst/>
          </a:prstGeom>
          <a:solidFill>
            <a:srgbClr val="E8F5E9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0" y="14630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7D32"/>
                </a:solidFill>
                <a:latin typeface="Calibri"/>
              </a:defRPr>
            </a:pPr>
            <a:r>
              <a:t>🧪 Тестване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21031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12121"/>
                </a:solidFill>
                <a:latin typeface="Calibri"/>
              </a:defRPr>
            </a:pPr>
            <a:r>
              <a:t>Backend: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24688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12121"/>
                </a:solidFill>
                <a:latin typeface="Calibri"/>
              </a:defRPr>
            </a:pPr>
            <a:r>
              <a:t>147 unit теста 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30175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12121"/>
                </a:solidFill>
                <a:latin typeface="Calibri"/>
              </a:defRPr>
            </a:pPr>
            <a:r>
              <a:t>Android: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33832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12121"/>
                </a:solidFill>
                <a:latin typeface="Calibri"/>
              </a:defRPr>
            </a:pPr>
            <a:r>
              <a:t>41 ViewModel unit теста 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39319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12121"/>
                </a:solidFill>
                <a:latin typeface="Calibri"/>
              </a:defRPr>
            </a:pPr>
            <a:r>
              <a:t>Технологии: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4297680"/>
            <a:ext cx="2926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• JUnit 4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• MockK (Kotlin mocking)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• Coroutines Test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• InstantTaskExecutorRule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16161"/>
                </a:solidFill>
                <a:latin typeface="Calibri"/>
              </a:defRPr>
            </a:pPr>
            <a:r>
              <a:t>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rPr lang="bg-BG" noProof="1"/>
              <a:t>Заключение и бъдещо развитие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5486400" cy="3200400"/>
          </a:xfrm>
          <a:prstGeom prst="rect">
            <a:avLst/>
          </a:prstGeom>
          <a:solidFill>
            <a:srgbClr val="E8F5E9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4937760" cy="45720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7D32"/>
                </a:solidFill>
                <a:latin typeface="Calibri"/>
              </a:defRPr>
            </a:pPr>
            <a:r>
              <a:rPr lang="bg-BG" noProof="1"/>
              <a:t>✅  Постигнати резултати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4937760" cy="1954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rPr dirty="0"/>
              <a:t>• 18/18 </a:t>
            </a:r>
            <a:r>
              <a:rPr lang="bg-BG" noProof="1"/>
              <a:t>функционални изисквания изпълнени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rPr lang="bg-BG" noProof="1"/>
              <a:t>• Пълна клиент-сървър архитектура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rPr dirty="0"/>
              <a:t>• GPS </a:t>
            </a:r>
            <a:r>
              <a:rPr lang="bg-BG" noProof="1"/>
              <a:t>верификация + камера за посещения</a:t>
            </a: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rPr dirty="0"/>
              <a:t>• Gamification: </a:t>
            </a:r>
            <a:r>
              <a:rPr lang="bg-BG" noProof="1"/>
              <a:t>точки, нива</a:t>
            </a:r>
            <a:r>
              <a:rPr dirty="0"/>
              <a:t>, streak, </a:t>
            </a:r>
            <a:r>
              <a:rPr lang="bg-BG" noProof="1"/>
              <a:t>мисии</a:t>
            </a: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rPr dirty="0"/>
              <a:t>• </a:t>
            </a:r>
            <a:r>
              <a:rPr lang="bg-BG" dirty="0"/>
              <a:t>244</a:t>
            </a:r>
            <a:r>
              <a:rPr dirty="0"/>
              <a:t> unit </a:t>
            </a:r>
            <a:r>
              <a:rPr lang="bg-BG" noProof="1"/>
              <a:t>теста</a:t>
            </a:r>
            <a:r>
              <a:rPr dirty="0"/>
              <a:t> </a:t>
            </a:r>
            <a:r>
              <a:rPr lang="bg-BG" dirty="0"/>
              <a:t>(201</a:t>
            </a:r>
            <a:r>
              <a:rPr dirty="0"/>
              <a:t> backend + 41 Android)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rPr dirty="0"/>
              <a:t>• Material Design 3 </a:t>
            </a:r>
            <a:r>
              <a:rPr lang="bg-BG" noProof="1"/>
              <a:t>с тъмен режим</a:t>
            </a:r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6400800" y="1371600"/>
            <a:ext cx="2560320" cy="1280160"/>
          </a:xfrm>
          <a:prstGeom prst="rect">
            <a:avLst/>
          </a:prstGeom>
          <a:solidFill>
            <a:srgbClr val="2E7D3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463040"/>
            <a:ext cx="2560320" cy="54864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rPr dirty="0"/>
              <a:t>115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0116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8E6C9"/>
                </a:solidFill>
                <a:latin typeface="Calibri"/>
              </a:defRPr>
            </a:pPr>
            <a:r>
              <a:t>Kotlin файла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0" y="1371600"/>
            <a:ext cx="2560320" cy="1280160"/>
          </a:xfrm>
          <a:prstGeom prst="rect">
            <a:avLst/>
          </a:prstGeom>
          <a:solidFill>
            <a:srgbClr val="2E7D3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326880" y="1463040"/>
            <a:ext cx="2560320" cy="54864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rPr dirty="0"/>
              <a:t>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0" y="20116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8E6C9"/>
                </a:solidFill>
                <a:latin typeface="Calibri"/>
              </a:defRPr>
            </a:pPr>
            <a:r>
              <a:t>REST ендпойнти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2926080"/>
            <a:ext cx="2560320" cy="1280160"/>
          </a:xfrm>
          <a:prstGeom prst="rect">
            <a:avLst/>
          </a:prstGeom>
          <a:solidFill>
            <a:srgbClr val="43A04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3017520"/>
            <a:ext cx="2560320" cy="54864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rPr dirty="0"/>
              <a:t>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5661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8E6C9"/>
                </a:solidFill>
                <a:latin typeface="Calibri"/>
              </a:defRPr>
            </a:pPr>
            <a:r>
              <a:t>Таблици в БД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0" y="2926080"/>
            <a:ext cx="2560320" cy="1280160"/>
          </a:xfrm>
          <a:prstGeom prst="rect">
            <a:avLst/>
          </a:prstGeom>
          <a:solidFill>
            <a:srgbClr val="43A04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26880" y="3017520"/>
            <a:ext cx="2560320" cy="646331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rPr lang="bg-BG" dirty="0"/>
              <a:t>244</a:t>
            </a:r>
            <a:endParaRPr dirty="0"/>
          </a:p>
        </p:txBody>
      </p:sp>
      <p:sp>
        <p:nvSpPr>
          <p:cNvPr id="18" name="TextBox 17"/>
          <p:cNvSpPr txBox="1"/>
          <p:nvPr/>
        </p:nvSpPr>
        <p:spPr>
          <a:xfrm>
            <a:off x="9326880" y="35661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8E6C9"/>
                </a:solidFill>
                <a:latin typeface="Calibri"/>
              </a:defRPr>
            </a:pPr>
            <a:r>
              <a:t>Unit теста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846320"/>
            <a:ext cx="11247120" cy="1280160"/>
          </a:xfrm>
          <a:prstGeom prst="rect">
            <a:avLst/>
          </a:prstGeom>
          <a:solidFill>
            <a:srgbClr val="F5F5F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4937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12121"/>
                </a:solidFill>
                <a:latin typeface="Calibri"/>
              </a:defRPr>
            </a:pPr>
            <a:r>
              <a:t>🚀  Бъдещо развитие: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3949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616161"/>
                </a:solidFill>
                <a:latin typeface="Calibri"/>
              </a:defRPr>
            </a:pPr>
            <a:r>
              <a:t>Социални функции (споделяне, коментари)     •     Офлайн режим     •     Добавена реалност (AR)     •     Многоезичен интерфейс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63093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E7D32"/>
                </a:solidFill>
                <a:latin typeface="Calibri"/>
              </a:defRPr>
            </a:pPr>
            <a:r>
              <a:t>Благодаря за вниманието!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16161"/>
                </a:solidFill>
                <a:latin typeface="Calibri"/>
              </a:defRPr>
            </a:pPr>
            <a:r>
              <a:t>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0cf7ac0a-4681-4823-ab0b-04ef02c5f873}" enabled="1" method="Standard" siteId="{42f7676c-f455-423c-82f6-dc2d99791af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527</Words>
  <Application>Microsoft Macintosh PowerPoint</Application>
  <PresentationFormat>Widescreen</PresentationFormat>
  <Paragraphs>130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Borisov, Preslav</cp:lastModifiedBy>
  <cp:revision>3</cp:revision>
  <dcterms:created xsi:type="dcterms:W3CDTF">2013-01-27T09:14:16Z</dcterms:created>
  <dcterms:modified xsi:type="dcterms:W3CDTF">2026-04-18T16:25:52Z</dcterms:modified>
  <cp:category/>
</cp:coreProperties>
</file>